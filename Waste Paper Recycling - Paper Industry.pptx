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Material Balance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335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Usable Recycled
Fibre</c:v>
                  </c:pt>
                  <c:pt idx="1">
                    <c:v>Rejects</c:v>
                  </c:pt>
                  <c:pt idx="2">
                    <c:v>Sludge</c:v>
                  </c:pt>
                  <c:pt idx="3">
                    <c:v>Process Losses
(water/steam)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750</c:v>
                </c:pt>
                <c:pt idx="1">
                  <c:v>130</c:v>
                </c:pt>
                <c:pt idx="2">
                  <c:v>70</c:v>
                </c:pt>
                <c:pt idx="3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335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5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B5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B5C"/>
                    </a:solidFill>
                    <a:latin typeface="Arial"/>
                  </a:rPr>
                  <a:t>kg (per 1,000 kg input)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6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image" Target="../media/image-12-1.png"/><Relationship Id="rId8" Type="http://schemas.openxmlformats.org/officeDocument/2006/relationships/image" Target="../media/image-12-1.png"/><Relationship Id="rId9" Type="http://schemas.openxmlformats.org/officeDocument/2006/relationships/image" Target="../media/image-12-1.png"/><Relationship Id="rId10" Type="http://schemas.openxmlformats.org/officeDocument/2006/relationships/image" Target="../media/image-12-1.png"/><Relationship Id="rId11" Type="http://schemas.openxmlformats.org/officeDocument/2006/relationships/image" Target="../media/image-12-1.png"/><Relationship Id="rId12" Type="http://schemas.openxmlformats.org/officeDocument/2006/relationships/image" Target="../media/image-12-1.png"/><Relationship Id="rId13" Type="http://schemas.openxmlformats.org/officeDocument/2006/relationships/image" Target="../media/image-12-1.png"/><Relationship Id="rId14" Type="http://schemas.openxmlformats.org/officeDocument/2006/relationships/image" Target="../media/image-12-1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5" name="Image 0" descr="icons/r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186" y="1125626"/>
            <a:ext cx="583387" cy="5833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RECYCLING OF WASTE PAPER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Paper Industry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Recovered Paper to Recycled Pulp — Process, Equipment &amp; Key Parameters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9436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9436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30552" y="59436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30552" y="59436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38144" y="59436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38144" y="59436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45736" y="59436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45736" y="59436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3328" y="59436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59436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60920" y="59436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60920" y="59436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668512" y="59436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68512" y="59436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976104" y="5943600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76104" y="59436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6B8E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Recycle Waste Paper?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78028" y="19202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09548" y="228600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icons/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862" y="2512314"/>
            <a:ext cx="553212" cy="5532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5188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Trees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5188" y="4023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virgin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demand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66948" y="19202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98468" y="2286000"/>
            <a:ext cx="1005840" cy="1005840"/>
          </a:xfrm>
          <a:prstGeom prst="ellipse">
            <a:avLst/>
          </a:prstGeom>
          <a:solidFill>
            <a:srgbClr val="2E7DA6"/>
          </a:solidFill>
          <a:ln/>
        </p:spPr>
      </p:sp>
      <p:pic>
        <p:nvPicPr>
          <p:cNvPr id="12" name="Image 1" descr="icons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82" y="2512314"/>
            <a:ext cx="553212" cy="5532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04108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Water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04108" y="4023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fresh-water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vs virgin pulp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55868" y="19202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87388" y="2286000"/>
            <a:ext cx="1005840" cy="1005840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17" name="Image 2" descr="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702" y="2512314"/>
            <a:ext cx="553212" cy="5532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3028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Energy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93028" y="4023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energy than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pulping virgin wood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44788" y="19202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76308" y="2286000"/>
            <a:ext cx="1005840" cy="1005840"/>
          </a:xfrm>
          <a:prstGeom prst="ellipse">
            <a:avLst/>
          </a:prstGeom>
          <a:solidFill>
            <a:srgbClr val="B4442E"/>
          </a:solidFill>
          <a:ln/>
        </p:spPr>
      </p:sp>
      <p:pic>
        <p:nvPicPr>
          <p:cNvPr id="22" name="Image 3" descr="icons/tr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2622" y="2512314"/>
            <a:ext cx="553212" cy="5532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1948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Landfill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181948" y="4023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Diverts waste paper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disposal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fibre can typically be reused several times before fibre strength limits further recycling.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6B8E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Process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DF1E8"/>
          </a:solidFill>
          <a:ln w="15875">
            <a:solidFill>
              <a:srgbClr val="6B8E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1709928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icons/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861" y="1858061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04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32888" y="2180844"/>
            <a:ext cx="219456" cy="164592"/>
          </a:xfrm>
          <a:prstGeom prst="rightArrow">
            <a:avLst/>
          </a:prstGeom>
          <a:solidFill>
            <a:srgbClr val="D98E2B"/>
          </a:solidFill>
          <a:ln/>
        </p:spPr>
      </p:sp>
      <p:sp>
        <p:nvSpPr>
          <p:cNvPr id="10" name="Shape 7"/>
          <p:cNvSpPr/>
          <p:nvPr/>
        </p:nvSpPr>
        <p:spPr>
          <a:xfrm>
            <a:off x="2770632" y="16002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DF1E8"/>
          </a:solidFill>
          <a:ln w="15875">
            <a:solidFill>
              <a:srgbClr val="6B8E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7560" y="1709928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icons/s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693" y="1858061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16352" y="2404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617720" y="2180844"/>
            <a:ext cx="219456" cy="164592"/>
          </a:xfrm>
          <a:prstGeom prst="rightArrow">
            <a:avLst/>
          </a:prstGeom>
          <a:solidFill>
            <a:srgbClr val="D98E2B"/>
          </a:solidFill>
          <a:ln/>
        </p:spPr>
      </p:sp>
      <p:sp>
        <p:nvSpPr>
          <p:cNvPr id="15" name="Shape 11"/>
          <p:cNvSpPr/>
          <p:nvPr/>
        </p:nvSpPr>
        <p:spPr>
          <a:xfrm>
            <a:off x="4855464" y="16002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DF1E8"/>
          </a:solidFill>
          <a:ln w="15875">
            <a:solidFill>
              <a:srgbClr val="6B8E4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22392" y="1709928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icons/boxo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5" y="1858061"/>
            <a:ext cx="362102" cy="3621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01184" y="2404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702552" y="2180844"/>
            <a:ext cx="219456" cy="164592"/>
          </a:xfrm>
          <a:prstGeom prst="rightArrow">
            <a:avLst/>
          </a:prstGeom>
          <a:solidFill>
            <a:srgbClr val="D98E2B"/>
          </a:solidFill>
          <a:ln/>
        </p:spPr>
      </p:sp>
      <p:sp>
        <p:nvSpPr>
          <p:cNvPr id="20" name="Shape 15"/>
          <p:cNvSpPr/>
          <p:nvPr/>
        </p:nvSpPr>
        <p:spPr>
          <a:xfrm>
            <a:off x="6940296" y="16002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DF1E8"/>
          </a:solidFill>
          <a:ln w="15875">
            <a:solidFill>
              <a:srgbClr val="6B8E4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07224" y="1709928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2" name="Image 3" descr="icons/wa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357" y="1858061"/>
            <a:ext cx="362102" cy="3621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86016" y="2404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787384" y="2180844"/>
            <a:ext cx="219456" cy="164592"/>
          </a:xfrm>
          <a:prstGeom prst="rightArrow">
            <a:avLst/>
          </a:prstGeom>
          <a:solidFill>
            <a:srgbClr val="D98E2B"/>
          </a:solidFill>
          <a:ln/>
        </p:spPr>
      </p:sp>
      <p:sp>
        <p:nvSpPr>
          <p:cNvPr id="25" name="Shape 19"/>
          <p:cNvSpPr/>
          <p:nvPr/>
        </p:nvSpPr>
        <p:spPr>
          <a:xfrm>
            <a:off x="9025128" y="16002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DF1E8"/>
          </a:solidFill>
          <a:ln w="15875">
            <a:solidFill>
              <a:srgbClr val="6B8E4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592056" y="1709928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7" name="Image 4" descr="icons/fil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0189" y="1858061"/>
            <a:ext cx="362102" cy="3621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70848" y="2404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85800" y="35204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DF1E8"/>
          </a:solidFill>
          <a:ln w="15875">
            <a:solidFill>
              <a:srgbClr val="6B8E4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252728" y="3630168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1" name="Image 5" descr="icons/fla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861" y="3778301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1520" y="4325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2532888" y="4101084"/>
            <a:ext cx="219456" cy="164592"/>
          </a:xfrm>
          <a:prstGeom prst="leftArrow">
            <a:avLst/>
          </a:prstGeom>
          <a:solidFill>
            <a:srgbClr val="D98E2B"/>
          </a:solidFill>
          <a:ln/>
        </p:spPr>
      </p:sp>
      <p:sp>
        <p:nvSpPr>
          <p:cNvPr id="34" name="Shape 26"/>
          <p:cNvSpPr/>
          <p:nvPr/>
        </p:nvSpPr>
        <p:spPr>
          <a:xfrm>
            <a:off x="2770632" y="35204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DF1E8"/>
          </a:solidFill>
          <a:ln w="15875">
            <a:solidFill>
              <a:srgbClr val="6B8E4E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337560" y="3630168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6" name="Image 6" descr="icons/cog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5693" y="3778301"/>
            <a:ext cx="362102" cy="36210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816352" y="4325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4617720" y="4101084"/>
            <a:ext cx="219456" cy="164592"/>
          </a:xfrm>
          <a:prstGeom prst="leftArrow">
            <a:avLst/>
          </a:prstGeom>
          <a:solidFill>
            <a:srgbClr val="D98E2B"/>
          </a:solidFill>
          <a:ln/>
        </p:spPr>
      </p:sp>
      <p:sp>
        <p:nvSpPr>
          <p:cNvPr id="39" name="Shape 30"/>
          <p:cNvSpPr/>
          <p:nvPr/>
        </p:nvSpPr>
        <p:spPr>
          <a:xfrm>
            <a:off x="4855464" y="35204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DF1E8"/>
          </a:solidFill>
          <a:ln w="15875">
            <a:solidFill>
              <a:srgbClr val="6B8E4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422392" y="3630168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1" name="Image 7" descr="icons/lay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0525" y="3778301"/>
            <a:ext cx="362102" cy="36210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901184" y="4325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Thickening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</a:t>
            </a:r>
            <a:endParaRPr lang="en-US" sz="1150" dirty="0"/>
          </a:p>
        </p:txBody>
      </p:sp>
      <p:sp>
        <p:nvSpPr>
          <p:cNvPr id="43" name="Shape 33"/>
          <p:cNvSpPr/>
          <p:nvPr/>
        </p:nvSpPr>
        <p:spPr>
          <a:xfrm>
            <a:off x="6702552" y="4101084"/>
            <a:ext cx="219456" cy="164592"/>
          </a:xfrm>
          <a:prstGeom prst="leftArrow">
            <a:avLst/>
          </a:prstGeom>
          <a:solidFill>
            <a:srgbClr val="D98E2B"/>
          </a:solidFill>
          <a:ln/>
        </p:spPr>
      </p:sp>
      <p:sp>
        <p:nvSpPr>
          <p:cNvPr id="44" name="Shape 34"/>
          <p:cNvSpPr/>
          <p:nvPr/>
        </p:nvSpPr>
        <p:spPr>
          <a:xfrm>
            <a:off x="6940296" y="35204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DF1E8"/>
          </a:solidFill>
          <a:ln w="15875">
            <a:solidFill>
              <a:srgbClr val="6B8E4E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507224" y="3630168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6" name="Image 8" descr="icons/dropl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5357" y="3778301"/>
            <a:ext cx="362102" cy="36210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986016" y="4325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Deinking</a:t>
            </a:r>
            <a:endParaRPr lang="en-US" sz="1150" dirty="0"/>
          </a:p>
        </p:txBody>
      </p:sp>
      <p:sp>
        <p:nvSpPr>
          <p:cNvPr id="48" name="Shape 37"/>
          <p:cNvSpPr/>
          <p:nvPr/>
        </p:nvSpPr>
        <p:spPr>
          <a:xfrm>
            <a:off x="8787384" y="4101084"/>
            <a:ext cx="219456" cy="164592"/>
          </a:xfrm>
          <a:prstGeom prst="leftArrow">
            <a:avLst/>
          </a:prstGeom>
          <a:solidFill>
            <a:srgbClr val="D98E2B"/>
          </a:solidFill>
          <a:ln/>
        </p:spPr>
      </p:sp>
      <p:sp>
        <p:nvSpPr>
          <p:cNvPr id="49" name="Shape 38"/>
          <p:cNvSpPr/>
          <p:nvPr/>
        </p:nvSpPr>
        <p:spPr>
          <a:xfrm>
            <a:off x="9025128" y="35204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DF1E8"/>
          </a:solidFill>
          <a:ln w="15875">
            <a:solidFill>
              <a:srgbClr val="6B8E4E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9592056" y="3630168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1" name="Image 9" descr="icons/broo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0189" y="3778301"/>
            <a:ext cx="362102" cy="362102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070848" y="4325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53" name="Shape 41"/>
          <p:cNvSpPr/>
          <p:nvPr/>
        </p:nvSpPr>
        <p:spPr>
          <a:xfrm>
            <a:off x="10835640" y="2263140"/>
            <a:ext cx="320040" cy="1920240"/>
          </a:xfrm>
          <a:prstGeom prst="bentConnector2">
            <a:avLst/>
          </a:prstGeom>
          <a:noFill/>
          <a:ln w="31750">
            <a:solidFill>
              <a:srgbClr val="D98E2B"/>
            </a:solidFill>
            <a:prstDash val="solid"/>
            <a:tailEnd type="triangle"/>
          </a:ln>
        </p:spPr>
      </p:sp>
      <p:sp>
        <p:nvSpPr>
          <p:cNvPr id="54" name="Shape 42"/>
          <p:cNvSpPr/>
          <p:nvPr/>
        </p:nvSpPr>
        <p:spPr>
          <a:xfrm>
            <a:off x="1581912" y="4846320"/>
            <a:ext cx="18288" cy="320040"/>
          </a:xfrm>
          <a:prstGeom prst="bentConnector2">
            <a:avLst/>
          </a:prstGeom>
          <a:noFill/>
          <a:ln w="31750">
            <a:solidFill>
              <a:srgbClr val="D98E2B"/>
            </a:solidFill>
            <a:prstDash val="solid"/>
            <a:tailEnd type="triangle"/>
          </a:ln>
        </p:spPr>
      </p:sp>
      <p:sp>
        <p:nvSpPr>
          <p:cNvPr id="55" name="Shape 43"/>
          <p:cNvSpPr/>
          <p:nvPr/>
        </p:nvSpPr>
        <p:spPr>
          <a:xfrm>
            <a:off x="685800" y="521208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56" name="Shape 44"/>
          <p:cNvSpPr/>
          <p:nvPr/>
        </p:nvSpPr>
        <p:spPr>
          <a:xfrm>
            <a:off x="832104" y="5321808"/>
            <a:ext cx="512064" cy="512064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57" name="Image 10" descr="icons/pri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318" y="5437022"/>
            <a:ext cx="281635" cy="281635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1435608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MACHINE — Form, Press &amp; Dry</a:t>
            </a:r>
            <a:endParaRPr lang="en-US" sz="1300" dirty="0"/>
          </a:p>
        </p:txBody>
      </p:sp>
      <p:sp>
        <p:nvSpPr>
          <p:cNvPr id="59" name="Text 4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60" name="Text 4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&amp; Sorting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recovered paper by grade before it enters the mill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8028" y="201168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09548" y="2331720"/>
            <a:ext cx="1005840" cy="100584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8" name="Image 0" descr="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862" y="2558034"/>
            <a:ext cx="553212" cy="5532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5188" y="3566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5188" y="4023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Corrugated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66948" y="201168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98468" y="2331720"/>
            <a:ext cx="1005840" cy="100584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13" name="Image 1" descr="icons/news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82" y="2558034"/>
            <a:ext cx="553212" cy="5532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4108" y="3566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04108" y="4023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55868" y="201168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87388" y="2331720"/>
            <a:ext cx="1005840" cy="100584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18" name="Image 2" descr="icon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702" y="2558034"/>
            <a:ext cx="553212" cy="5532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3028" y="3566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Paper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93028" y="4023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white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grades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44788" y="201168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776308" y="2331720"/>
            <a:ext cx="1005840" cy="100584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23" name="Image 3" descr="icons/recy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2622" y="2558034"/>
            <a:ext cx="553212" cy="5532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1948" y="3566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Paper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181948" y="4023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Assorted low-grade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paper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Bale Opening &amp; Pulping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91740" y="2057400"/>
            <a:ext cx="1188720" cy="118872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7" name="Image 0" descr="icons/box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9202" y="2324862"/>
            <a:ext cx="653796" cy="653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747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Bale Opening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05840" y="4151376"/>
            <a:ext cx="91440" cy="91440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99592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Bales opened &amp; fed to stock prep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4654296"/>
            <a:ext cx="91440" cy="91440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44988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waste paper into system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169164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78140" y="2057400"/>
            <a:ext cx="1188720" cy="11887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1" descr="icons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602" y="2324862"/>
            <a:ext cx="653796" cy="6537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17920" y="34747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Pulping (Hydrapulper)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6492240" y="4151376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4"/>
          <p:cNvSpPr/>
          <p:nvPr/>
        </p:nvSpPr>
        <p:spPr>
          <a:xfrm>
            <a:off x="6720840" y="399592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mixed with water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92240" y="4654296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6"/>
          <p:cNvSpPr/>
          <p:nvPr/>
        </p:nvSpPr>
        <p:spPr>
          <a:xfrm>
            <a:off x="6720840" y="44988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down into individual fibres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492240" y="5157216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18"/>
          <p:cNvSpPr/>
          <p:nvPr/>
        </p:nvSpPr>
        <p:spPr>
          <a:xfrm>
            <a:off x="6720840" y="50017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trap removes large debris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&amp; Cleaning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contaminant removal — coarse to fine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5168" y="196596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98168" y="2331720"/>
            <a:ext cx="1097280" cy="109728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8" name="Image 0" descr="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056" y="2578608"/>
            <a:ext cx="603504" cy="6035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048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Screening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112368" y="4178808"/>
            <a:ext cx="2468880" cy="0"/>
          </a:xfrm>
          <a:prstGeom prst="line">
            <a:avLst/>
          </a:prstGeom>
          <a:noFill/>
          <a:ln w="19050">
            <a:solidFill>
              <a:srgbClr val="6B8E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048" y="4297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75208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Plastics · Strings · Tapes · Large debris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75024" y="3739896"/>
            <a:ext cx="292608" cy="201168"/>
          </a:xfrm>
          <a:prstGeom prst="rightArrow">
            <a:avLst/>
          </a:prstGeom>
          <a:solidFill>
            <a:srgbClr val="D98E2B"/>
          </a:solidFill>
          <a:ln/>
        </p:spPr>
      </p:sp>
      <p:sp>
        <p:nvSpPr>
          <p:cNvPr id="14" name="Shape 11"/>
          <p:cNvSpPr/>
          <p:nvPr/>
        </p:nvSpPr>
        <p:spPr>
          <a:xfrm>
            <a:off x="4404208" y="196596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47208" y="2331720"/>
            <a:ext cx="1097280" cy="10972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1" descr="icons/mag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578608"/>
            <a:ext cx="603504" cy="6035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87088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4861408" y="4178808"/>
            <a:ext cx="2468880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87088" y="4297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24248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· Glass · Metals (centrifugal cleaners)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824064" y="3739896"/>
            <a:ext cx="292608" cy="201168"/>
          </a:xfrm>
          <a:prstGeom prst="rightArrow">
            <a:avLst/>
          </a:prstGeom>
          <a:solidFill>
            <a:srgbClr val="D98E2B"/>
          </a:solidFill>
          <a:ln/>
        </p:spPr>
      </p:sp>
      <p:sp>
        <p:nvSpPr>
          <p:cNvPr id="22" name="Shape 18"/>
          <p:cNvSpPr/>
          <p:nvPr/>
        </p:nvSpPr>
        <p:spPr>
          <a:xfrm>
            <a:off x="8153248" y="196596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296248" y="2331720"/>
            <a:ext cx="1097280" cy="1097280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24" name="Image 2" descr="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136" y="2578608"/>
            <a:ext cx="603504" cy="6035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36128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Screening</a:t>
            </a:r>
            <a:endParaRPr lang="en-US" sz="1550" dirty="0"/>
          </a:p>
        </p:txBody>
      </p:sp>
      <p:sp>
        <p:nvSpPr>
          <p:cNvPr id="26" name="Shape 21"/>
          <p:cNvSpPr/>
          <p:nvPr/>
        </p:nvSpPr>
        <p:spPr>
          <a:xfrm>
            <a:off x="8610448" y="4178808"/>
            <a:ext cx="2468880" cy="0"/>
          </a:xfrm>
          <a:prstGeom prst="line">
            <a:avLst/>
          </a:prstGeom>
          <a:noFill/>
          <a:ln w="19050">
            <a:solidFill>
              <a:srgbClr val="D98E2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336128" y="4297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473288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contaminants · Stickies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3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D98E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D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Deinking &amp; Flotation / Washing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printing ink to restore brightness and cleanliness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2103120" cy="210312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7" name="Image 0" descr="icons/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628900"/>
            <a:ext cx="1051560" cy="1051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749040" y="1965960"/>
            <a:ext cx="7589520" cy="1143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9" name="Shape 6"/>
          <p:cNvSpPr/>
          <p:nvPr/>
        </p:nvSpPr>
        <p:spPr>
          <a:xfrm>
            <a:off x="3977640" y="228600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0" name="Text 7"/>
          <p:cNvSpPr/>
          <p:nvPr/>
        </p:nvSpPr>
        <p:spPr>
          <a:xfrm>
            <a:off x="39776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09160" y="20756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Deinking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09160" y="24688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ink is dislodged from fibre surfaces where required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49040" y="3337560"/>
            <a:ext cx="7589520" cy="1143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14" name="Shape 11"/>
          <p:cNvSpPr/>
          <p:nvPr/>
        </p:nvSpPr>
        <p:spPr>
          <a:xfrm>
            <a:off x="3977640" y="365760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5" name="Text 12"/>
          <p:cNvSpPr/>
          <p:nvPr/>
        </p:nvSpPr>
        <p:spPr>
          <a:xfrm>
            <a:off x="3977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09160" y="34472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709160" y="38404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bubbles carry ink particles to a froth layer for removal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749040" y="4709160"/>
            <a:ext cx="7589520" cy="1143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19" name="Shape 16"/>
          <p:cNvSpPr/>
          <p:nvPr/>
        </p:nvSpPr>
        <p:spPr>
          <a:xfrm>
            <a:off x="3977640" y="502920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20" name="Text 17"/>
          <p:cNvSpPr/>
          <p:nvPr/>
        </p:nvSpPr>
        <p:spPr>
          <a:xfrm>
            <a:off x="3977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09160" y="48188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709160" y="52120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ink particles and dissolved contaminants from pulp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Thickening, Refining &amp; Blending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recycled pulp for the paper machine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5168" y="196596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52448" y="2377440"/>
            <a:ext cx="1188720" cy="1188720"/>
          </a:xfrm>
          <a:prstGeom prst="ellipse">
            <a:avLst/>
          </a:prstGeom>
          <a:solidFill>
            <a:srgbClr val="2E7DA6"/>
          </a:solidFill>
          <a:ln/>
        </p:spPr>
      </p:sp>
      <p:pic>
        <p:nvPicPr>
          <p:cNvPr id="8" name="Image 0" descr="icons/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910" y="2644902"/>
            <a:ext cx="653796" cy="6537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048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29488" y="43434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pulp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75024" y="3739896"/>
            <a:ext cx="292608" cy="201168"/>
          </a:xfrm>
          <a:prstGeom prst="rightArrow">
            <a:avLst/>
          </a:prstGeom>
          <a:solidFill>
            <a:srgbClr val="D98E2B"/>
          </a:solidFill>
          <a:ln/>
        </p:spPr>
      </p:sp>
      <p:sp>
        <p:nvSpPr>
          <p:cNvPr id="12" name="Shape 9"/>
          <p:cNvSpPr/>
          <p:nvPr/>
        </p:nvSpPr>
        <p:spPr>
          <a:xfrm>
            <a:off x="4404208" y="196596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01488" y="2377440"/>
            <a:ext cx="1188720" cy="11887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950" y="2644902"/>
            <a:ext cx="653796" cy="6537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87088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78528" y="43434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fibre strength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bonding properties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24064" y="3739896"/>
            <a:ext cx="292608" cy="201168"/>
          </a:xfrm>
          <a:prstGeom prst="rightArrow">
            <a:avLst/>
          </a:prstGeom>
          <a:solidFill>
            <a:srgbClr val="D98E2B"/>
          </a:solidFill>
          <a:ln/>
        </p:spPr>
      </p:sp>
      <p:sp>
        <p:nvSpPr>
          <p:cNvPr id="18" name="Shape 14"/>
          <p:cNvSpPr/>
          <p:nvPr/>
        </p:nvSpPr>
        <p:spPr>
          <a:xfrm>
            <a:off x="8153248" y="196596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250528" y="2377440"/>
            <a:ext cx="1188720" cy="1188720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20" name="Image 2" descr="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990" y="2644902"/>
            <a:ext cx="653796" cy="6537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36128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27568" y="43434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with virgin pulp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additives as required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66544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Machine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pulp becomes new paper or 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8028" y="201168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09548" y="2377440"/>
            <a:ext cx="1005840" cy="100584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8" name="Image 0" descr="icons/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862" y="2603754"/>
            <a:ext cx="553212" cy="5532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5188" y="3611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0908" y="4069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Fibres deposited into a wet sheet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74340" y="3520440"/>
            <a:ext cx="265176" cy="182880"/>
          </a:xfrm>
          <a:prstGeom prst="rightArrow">
            <a:avLst/>
          </a:prstGeom>
          <a:solidFill>
            <a:srgbClr val="D98E2B"/>
          </a:solidFill>
          <a:ln/>
        </p:spPr>
      </p:sp>
      <p:sp>
        <p:nvSpPr>
          <p:cNvPr id="12" name="Shape 9"/>
          <p:cNvSpPr/>
          <p:nvPr/>
        </p:nvSpPr>
        <p:spPr>
          <a:xfrm>
            <a:off x="3466948" y="201168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98468" y="2377440"/>
            <a:ext cx="1005840" cy="100584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14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82" y="2603754"/>
            <a:ext cx="553212" cy="5532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04108" y="3611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49828" y="4069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mechanically removed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963260" y="3520440"/>
            <a:ext cx="265176" cy="182880"/>
          </a:xfrm>
          <a:prstGeom prst="rightArrow">
            <a:avLst/>
          </a:prstGeom>
          <a:solidFill>
            <a:srgbClr val="D98E2B"/>
          </a:solidFill>
          <a:ln/>
        </p:spPr>
      </p:sp>
      <p:sp>
        <p:nvSpPr>
          <p:cNvPr id="18" name="Shape 14"/>
          <p:cNvSpPr/>
          <p:nvPr/>
        </p:nvSpPr>
        <p:spPr>
          <a:xfrm>
            <a:off x="6255868" y="201168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4F6F1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87388" y="2377440"/>
            <a:ext cx="1005840" cy="100584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20" name="Image 2" descr="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702" y="2603754"/>
            <a:ext cx="553212" cy="5532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93028" y="3611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38748" y="4069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Heated cylinders dry the sheet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752180" y="3520440"/>
            <a:ext cx="265176" cy="182880"/>
          </a:xfrm>
          <a:prstGeom prst="rightArrow">
            <a:avLst/>
          </a:prstGeom>
          <a:solidFill>
            <a:srgbClr val="D98E2B"/>
          </a:solidFill>
          <a:ln/>
        </p:spPr>
      </p:sp>
      <p:sp>
        <p:nvSpPr>
          <p:cNvPr id="24" name="Shape 19"/>
          <p:cNvSpPr/>
          <p:nvPr/>
        </p:nvSpPr>
        <p:spPr>
          <a:xfrm>
            <a:off x="9044788" y="201168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776308" y="2377440"/>
            <a:ext cx="1005840" cy="1005840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26" name="Image 3" descr="icons/pr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2622" y="2603754"/>
            <a:ext cx="553212" cy="5532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81948" y="3611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Paper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227668" y="4069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paper / board product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73936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Equipment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4896" y="16002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6" name="Shape 4"/>
          <p:cNvSpPr/>
          <p:nvPr/>
        </p:nvSpPr>
        <p:spPr>
          <a:xfrm>
            <a:off x="929488" y="19659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icons/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6" y="21099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79296" y="1600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Bale Handling System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80664" y="16002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10" name="Shape 7"/>
          <p:cNvSpPr/>
          <p:nvPr/>
        </p:nvSpPr>
        <p:spPr>
          <a:xfrm>
            <a:off x="3645256" y="19659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icons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274" y="21099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95064" y="1600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Hydrapulper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96432" y="16002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14" name="Shape 10"/>
          <p:cNvSpPr/>
          <p:nvPr/>
        </p:nvSpPr>
        <p:spPr>
          <a:xfrm>
            <a:off x="6361024" y="19659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042" y="210997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10832" y="1600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Trap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912200" y="16002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18" name="Shape 13"/>
          <p:cNvSpPr/>
          <p:nvPr/>
        </p:nvSpPr>
        <p:spPr>
          <a:xfrm>
            <a:off x="9076792" y="19659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3" descr="icons/fil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810" y="2109978"/>
            <a:ext cx="352044" cy="3520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26600" y="1600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&amp; Fine Screens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64896" y="32004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22" name="Shape 16"/>
          <p:cNvSpPr/>
          <p:nvPr/>
        </p:nvSpPr>
        <p:spPr>
          <a:xfrm>
            <a:off x="929488" y="3566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4" descr="icons/ge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6" y="3710178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79296" y="32004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Centrifugal Cleaners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480664" y="32004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26" name="Shape 19"/>
          <p:cNvSpPr/>
          <p:nvPr/>
        </p:nvSpPr>
        <p:spPr>
          <a:xfrm>
            <a:off x="3645256" y="3566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7" name="Image 5" descr="icons/co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9274" y="3710178"/>
            <a:ext cx="352044" cy="3520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395064" y="32004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Deflakers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196432" y="32004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30" name="Shape 22"/>
          <p:cNvSpPr/>
          <p:nvPr/>
        </p:nvSpPr>
        <p:spPr>
          <a:xfrm>
            <a:off x="6361024" y="3566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1" name="Image 6" descr="icons/dropl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042" y="3710178"/>
            <a:ext cx="352044" cy="3520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110832" y="32004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Deinking Flotation Cell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8912200" y="32004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34" name="Shape 25"/>
          <p:cNvSpPr/>
          <p:nvPr/>
        </p:nvSpPr>
        <p:spPr>
          <a:xfrm>
            <a:off x="9076792" y="3566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5" name="Image 7" descr="icons/lay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0810" y="3710178"/>
            <a:ext cx="352044" cy="3520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826600" y="32004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Filter / Thickener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764896" y="48006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38" name="Shape 28"/>
          <p:cNvSpPr/>
          <p:nvPr/>
        </p:nvSpPr>
        <p:spPr>
          <a:xfrm>
            <a:off x="929488" y="51663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9" name="Image 8" descr="icons/flas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506" y="5310378"/>
            <a:ext cx="352044" cy="35204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679296" y="48006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Disperser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3480664" y="48006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42" name="Shape 31"/>
          <p:cNvSpPr/>
          <p:nvPr/>
        </p:nvSpPr>
        <p:spPr>
          <a:xfrm>
            <a:off x="3645256" y="51663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3" name="Image 9" descr="icons/cog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9274" y="5310378"/>
            <a:ext cx="352044" cy="352044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395064" y="48006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6196432" y="48006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46" name="Shape 34"/>
          <p:cNvSpPr/>
          <p:nvPr/>
        </p:nvSpPr>
        <p:spPr>
          <a:xfrm>
            <a:off x="6361024" y="51663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7" name="Image 10" descr="icons/trash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042" y="5310378"/>
            <a:ext cx="352044" cy="352044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7110832" y="48006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Handling System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8912200" y="48006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DF1E8"/>
          </a:solidFill>
          <a:ln/>
        </p:spPr>
      </p:sp>
      <p:sp>
        <p:nvSpPr>
          <p:cNvPr id="50" name="Shape 37"/>
          <p:cNvSpPr/>
          <p:nvPr/>
        </p:nvSpPr>
        <p:spPr>
          <a:xfrm>
            <a:off x="9076792" y="51663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1" name="Image 11" descr="icons/broo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0810" y="5310378"/>
            <a:ext cx="352044" cy="352044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9826600" y="48006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Dewatering System</a:t>
            </a:r>
            <a:endParaRPr lang="en-US" sz="1200" dirty="0"/>
          </a:p>
        </p:txBody>
      </p:sp>
      <p:sp>
        <p:nvSpPr>
          <p:cNvPr id="53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54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B444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3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Problems in Waste-Paper Recycling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64896" y="15087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4F6F1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11300" y="1673352"/>
            <a:ext cx="621792" cy="621792"/>
          </a:xfrm>
          <a:prstGeom prst="ellipse">
            <a:avLst/>
          </a:prstGeom>
          <a:solidFill>
            <a:srgbClr val="B4442E"/>
          </a:solidFill>
          <a:ln/>
        </p:spPr>
      </p:sp>
      <p:pic>
        <p:nvPicPr>
          <p:cNvPr id="7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203" y="1813255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4624" y="2377440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02056" y="2697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Plastic, staples, tape, glass, sand, metals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80664" y="15087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4F6F1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27068" y="1673352"/>
            <a:ext cx="621792" cy="621792"/>
          </a:xfrm>
          <a:prstGeom prst="ellipse">
            <a:avLst/>
          </a:prstGeom>
          <a:solidFill>
            <a:srgbClr val="B4442E"/>
          </a:solidFill>
          <a:ln/>
        </p:spPr>
      </p:sp>
      <p:pic>
        <p:nvPicPr>
          <p:cNvPr id="12" name="Image 1" descr="icons/b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971" y="1813255"/>
            <a:ext cx="341986" cy="3419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0392" y="2377440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Stickies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617824" y="2697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Adhesives from labels &amp; packaging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96432" y="15087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4F6F1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42836" y="1673352"/>
            <a:ext cx="621792" cy="621792"/>
          </a:xfrm>
          <a:prstGeom prst="ellipse">
            <a:avLst/>
          </a:prstGeom>
          <a:solidFill>
            <a:srgbClr val="B4442E"/>
          </a:solidFill>
          <a:ln/>
        </p:spPr>
      </p:sp>
      <p:pic>
        <p:nvPicPr>
          <p:cNvPr id="17" name="Image 2" descr="icons/drop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739" y="1813255"/>
            <a:ext cx="341986" cy="3419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6160" y="2377440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33592" y="2697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brightness &amp; cleanliness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912200" y="15087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4F6F1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58604" y="1673352"/>
            <a:ext cx="621792" cy="621792"/>
          </a:xfrm>
          <a:prstGeom prst="ellipse">
            <a:avLst/>
          </a:prstGeom>
          <a:solidFill>
            <a:srgbClr val="B4442E"/>
          </a:solidFill>
          <a:ln/>
        </p:spPr>
      </p:sp>
      <p:pic>
        <p:nvPicPr>
          <p:cNvPr id="22" name="Image 3" descr="icons/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8507" y="1813255"/>
            <a:ext cx="341986" cy="3419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21928" y="2377440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Deterioration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049360" y="2697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recycling weakens fibres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64896" y="34290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4F6F1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711300" y="3593592"/>
            <a:ext cx="621792" cy="621792"/>
          </a:xfrm>
          <a:prstGeom prst="ellipse">
            <a:avLst/>
          </a:prstGeom>
          <a:solidFill>
            <a:srgbClr val="B4442E"/>
          </a:solidFill>
          <a:ln/>
        </p:spPr>
      </p:sp>
      <p:pic>
        <p:nvPicPr>
          <p:cNvPr id="27" name="Image 4" descr="icons/fl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203" y="3733495"/>
            <a:ext cx="341986" cy="34198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4624" y="4297680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COD / BOD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02056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organics in wastewater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480664" y="34290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4F6F1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427068" y="3593592"/>
            <a:ext cx="621792" cy="621792"/>
          </a:xfrm>
          <a:prstGeom prst="ellipse">
            <a:avLst/>
          </a:prstGeom>
          <a:solidFill>
            <a:srgbClr val="B4442E"/>
          </a:solidFill>
          <a:ln/>
        </p:spPr>
      </p:sp>
      <p:pic>
        <p:nvPicPr>
          <p:cNvPr id="32" name="Image 5" descr="icons/tra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6971" y="3733495"/>
            <a:ext cx="341986" cy="34198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90392" y="4297680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&amp; Sludge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617824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disposal or recovery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196432" y="34290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4F6F1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142836" y="3593592"/>
            <a:ext cx="621792" cy="621792"/>
          </a:xfrm>
          <a:prstGeom prst="ellipse">
            <a:avLst/>
          </a:prstGeom>
          <a:solidFill>
            <a:srgbClr val="B4442E"/>
          </a:solidFill>
          <a:ln/>
        </p:spPr>
      </p:sp>
      <p:pic>
        <p:nvPicPr>
          <p:cNvPr id="37" name="Image 6" descr="icons/bol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2739" y="3733495"/>
            <a:ext cx="341986" cy="34198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06160" y="4297680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Water Use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333592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Pulping, screening, deinking are utility-intensive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3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D98E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D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Parameters to Monitor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54584" y="160020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1377544" y="170992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7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299" y="1808683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6024" y="21945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Consistency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04008" y="160020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10" name="Shape 7"/>
          <p:cNvSpPr/>
          <p:nvPr/>
        </p:nvSpPr>
        <p:spPr>
          <a:xfrm>
            <a:off x="3626968" y="170992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11" name="Image 1" descr="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723" y="1808683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5448" y="21945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Freeness (CSF)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53432" y="160020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14" name="Shape 10"/>
          <p:cNvSpPr/>
          <p:nvPr/>
        </p:nvSpPr>
        <p:spPr>
          <a:xfrm>
            <a:off x="5876392" y="170992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15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147" y="1808683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44872" y="21945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302856" y="160020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18" name="Shape 13"/>
          <p:cNvSpPr/>
          <p:nvPr/>
        </p:nvSpPr>
        <p:spPr>
          <a:xfrm>
            <a:off x="8125816" y="170992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19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571" y="1808683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94296" y="21945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 Count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552280" y="160020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22" name="Shape 16"/>
          <p:cNvSpPr/>
          <p:nvPr/>
        </p:nvSpPr>
        <p:spPr>
          <a:xfrm>
            <a:off x="10375240" y="170992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23" name="Image 4" descr="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3995" y="1808683"/>
            <a:ext cx="241402" cy="2414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43720" y="21945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54584" y="283464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26" name="Shape 19"/>
          <p:cNvSpPr/>
          <p:nvPr/>
        </p:nvSpPr>
        <p:spPr>
          <a:xfrm>
            <a:off x="1377544" y="294436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27" name="Image 5" descr="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6299" y="3043123"/>
            <a:ext cx="241402" cy="24140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6024" y="34290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2804008" y="283464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30" name="Shape 22"/>
          <p:cNvSpPr/>
          <p:nvPr/>
        </p:nvSpPr>
        <p:spPr>
          <a:xfrm>
            <a:off x="3626968" y="294436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31" name="Image 6" descr="icons/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5723" y="3043123"/>
            <a:ext cx="241402" cy="24140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895448" y="34290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%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5053432" y="283464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34" name="Shape 25"/>
          <p:cNvSpPr/>
          <p:nvPr/>
        </p:nvSpPr>
        <p:spPr>
          <a:xfrm>
            <a:off x="5876392" y="294436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35" name="Image 7" descr="icons/cha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5147" y="3043123"/>
            <a:ext cx="241402" cy="24140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144872" y="34290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Yield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7302856" y="283464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38" name="Shape 28"/>
          <p:cNvSpPr/>
          <p:nvPr/>
        </p:nvSpPr>
        <p:spPr>
          <a:xfrm>
            <a:off x="8125816" y="294436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39" name="Image 8" descr="icons/cha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4571" y="3043123"/>
            <a:ext cx="241402" cy="24140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394296" y="34290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Stickies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9552280" y="283464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42" name="Shape 31"/>
          <p:cNvSpPr/>
          <p:nvPr/>
        </p:nvSpPr>
        <p:spPr>
          <a:xfrm>
            <a:off x="10375240" y="294436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43" name="Image 9" descr="icons/char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3995" y="3043123"/>
            <a:ext cx="241402" cy="24140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643720" y="34290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/ BOD</a:t>
            </a:r>
            <a:endParaRPr lang="en-US" sz="1050" dirty="0"/>
          </a:p>
        </p:txBody>
      </p:sp>
      <p:sp>
        <p:nvSpPr>
          <p:cNvPr id="45" name="Shape 33"/>
          <p:cNvSpPr/>
          <p:nvPr/>
        </p:nvSpPr>
        <p:spPr>
          <a:xfrm>
            <a:off x="554584" y="406908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46" name="Shape 34"/>
          <p:cNvSpPr/>
          <p:nvPr/>
        </p:nvSpPr>
        <p:spPr>
          <a:xfrm>
            <a:off x="1377544" y="417880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47" name="Image 10" descr="icons/char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6299" y="4277563"/>
            <a:ext cx="241402" cy="241402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46024" y="46634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2804008" y="406908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50" name="Shape 37"/>
          <p:cNvSpPr/>
          <p:nvPr/>
        </p:nvSpPr>
        <p:spPr>
          <a:xfrm>
            <a:off x="3626968" y="417880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51" name="Image 11" descr="icons/char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5723" y="4277563"/>
            <a:ext cx="241402" cy="241402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2895448" y="46634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Use</a:t>
            </a:r>
            <a:endParaRPr lang="en-US" sz="1050" dirty="0"/>
          </a:p>
        </p:txBody>
      </p:sp>
      <p:sp>
        <p:nvSpPr>
          <p:cNvPr id="53" name="Shape 39"/>
          <p:cNvSpPr/>
          <p:nvPr/>
        </p:nvSpPr>
        <p:spPr>
          <a:xfrm>
            <a:off x="5053432" y="406908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54" name="Shape 40"/>
          <p:cNvSpPr/>
          <p:nvPr/>
        </p:nvSpPr>
        <p:spPr>
          <a:xfrm>
            <a:off x="5876392" y="417880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55" name="Image 12" descr="icons/char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5147" y="4277563"/>
            <a:ext cx="241402" cy="241402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5144872" y="46634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Fresh-Water Use</a:t>
            </a:r>
            <a:endParaRPr lang="en-US" sz="1050" dirty="0"/>
          </a:p>
        </p:txBody>
      </p:sp>
      <p:sp>
        <p:nvSpPr>
          <p:cNvPr id="57" name="Shape 42"/>
          <p:cNvSpPr/>
          <p:nvPr/>
        </p:nvSpPr>
        <p:spPr>
          <a:xfrm>
            <a:off x="7302856" y="406908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</p:sp>
      <p:sp>
        <p:nvSpPr>
          <p:cNvPr id="58" name="Shape 43"/>
          <p:cNvSpPr/>
          <p:nvPr/>
        </p:nvSpPr>
        <p:spPr>
          <a:xfrm>
            <a:off x="8125816" y="4178808"/>
            <a:ext cx="438912" cy="438912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59" name="Image 13" descr="icons/char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4571" y="4277563"/>
            <a:ext cx="241402" cy="241402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7394296" y="46634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/ ton Pulp</a:t>
            </a:r>
            <a:endParaRPr lang="en-US" sz="1050" dirty="0"/>
          </a:p>
        </p:txBody>
      </p:sp>
      <p:sp>
        <p:nvSpPr>
          <p:cNvPr id="61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62" name="Text 4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98064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98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BALANCE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Material Balance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split for 1,000 kg of waste paper processed — actual yield depends on grade &amp; process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914400" cy="91440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7" name="Image 0" descr="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1259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880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33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Paper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965960" y="2240280"/>
            <a:ext cx="548640" cy="274320"/>
          </a:xfrm>
          <a:prstGeom prst="rightArrow">
            <a:avLst/>
          </a:prstGeom>
          <a:solidFill>
            <a:srgbClr val="D98E2B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2743200" y="1737360"/>
          <a:ext cx="8778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3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868680" cy="868680"/>
          </a:xfrm>
          <a:prstGeom prst="ellipse">
            <a:avLst/>
          </a:prstGeom>
          <a:solidFill>
            <a:srgbClr val="D98E2B"/>
          </a:solidFill>
          <a:ln/>
        </p:spPr>
      </p:sp>
      <p:pic>
        <p:nvPicPr>
          <p:cNvPr id="4" name="Image 0" descr="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13" y="835533"/>
            <a:ext cx="477774" cy="4777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685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&amp; Compliance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17" y="1987677"/>
            <a:ext cx="276606" cy="276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7452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14001 — Environmental management of effluent, sludge &amp; emissions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10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2764917"/>
            <a:ext cx="276606" cy="276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265176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 — Structured energy monitoring across pulping, screening &amp; deinking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22960" y="3429000"/>
            <a:ext cx="502920" cy="50292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13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17" y="3542157"/>
            <a:ext cx="276606" cy="27660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342900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tracking of water, energy &amp; reject % supports both standards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822960" y="4480560"/>
            <a:ext cx="10515600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2296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822960" y="5074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10–15 slide deck can expand each section with your mill's own energy, water, ETP and material-balance data.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822960" y="6035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Waste-Paper Recycling  |  Paper Mill Process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2026-08-19T04:41:21Z</dcterms:created>
  <dcterms:modified xsi:type="dcterms:W3CDTF">2026-08-19T04:41:21Z</dcterms:modified>
</cp:coreProperties>
</file>